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36576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SPORTS SCIENCE &amp; ATHLETIC PERFORMANCE ANALYTICS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AthleteShield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Wearable-Sensor-Driven Machine Learning System for Predicting Non-Contact Musculoskeletal Injury Risk in Athletes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Saatwik Nalluri  </a:t>
            </a:r>
            <a:pPr indent="0" marL="0">
              <a:buNone/>
            </a:pPr>
            <a:r>
              <a:rPr lang="en-US" sz="130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(23MID0438)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Pakala Puneeth  </a:t>
            </a:r>
            <a:pPr indent="0" marL="0">
              <a:buNone/>
            </a:pPr>
            <a:r>
              <a:rPr lang="en-US" sz="130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(23MID0291)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•  Version 1.0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problem, and the system that answers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injuries — ACL tears, hamstring strains — are the leading controllable cause of lost athlete availability, yet prevention still relies on subjective clinical judgement applied </a:t>
            </a:r>
            <a:pPr indent="0" marL="0">
              <a:lnSpc>
                <a:spcPct val="128000"/>
              </a:lnSpc>
              <a:buNone/>
            </a:pPr>
            <a:r>
              <a:rPr lang="en-US" sz="14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fatigue is already visible.
</a:t>
            </a:r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AthleteShield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wearable-sensor-driven ML system that continuously estimates short-term injury risk from IMU, GPS/GNSS and heart-rate-variability signals — aggregated into sport-science-validated features (ACWR, PlayerLoad, HRV-RMSSD trend) and scored by an ensemble of tree-based classifiers, with SHAP explainability tracing every risk score back to a clinically meaningful cause.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6235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· on-premises · human-in-the-loop by design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0" y="18288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5882" y="20308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03920" y="22219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 streams — IMU, GPS/GNSS, HRV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30175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43800" y="3246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882" y="344820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3+1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03920" y="36393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layers — RF, XGBoost, LightGBM + optional LSTM/CNN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0" y="44348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43800" y="466344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882" y="48655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4572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503920" y="50566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every score traceable via SHAP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Reactive care doesn't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already generate dense multi-sensor data every session — but it is used almost exclusively for post-hoc load reporting, not forward-looking risk prediction.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7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88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9553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889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Financial impact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32004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Multi-million-dollar wage costs sit with sidelined players, plus transfer-market and match-outcome losses.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5146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7F6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788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9553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7889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Career impact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69480" y="32004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and recurrent hamstring injuries are strongly linked to shortened careers and post-injury decline.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7F6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5029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1956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029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availability gap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37360" y="54406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vests, IMU pods and HR straps already exist — but feed reports, not predictions.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47548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7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5029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519562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5029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Reactive vs. proactive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69480" y="54406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intervene after soreness is reported; a predictive layer moves intervention earlier.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Twelve studies, five converging themes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 · wearable-driven, ML-based injury-risk prediction has moved from single-sensor studies toward multimodal, interpretable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46704" cy="1783080"/>
          </a:xfrm>
          <a:prstGeom prst="roundRect">
            <a:avLst>
              <a:gd name="adj" fmla="val 4103"/>
            </a:avLst>
          </a:prstGeom>
          <a:solidFill>
            <a:srgbClr val="1C333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53837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06324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Tree ensembles dominate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336499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B9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XGBoost consistently beat logistic-regression baselines on GPS/workload features (e.g. 90% acc., 92% precision on Catapult GPS data).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206240" y="2194560"/>
            <a:ext cx="3346704" cy="1783080"/>
          </a:xfrm>
          <a:prstGeom prst="roundRect">
            <a:avLst>
              <a:gd name="adj" fmla="val 4103"/>
            </a:avLst>
          </a:prstGeom>
          <a:solidFill>
            <a:srgbClr val="1C333A"/>
          </a:solidFill>
          <a:ln/>
        </p:spPr>
      </p:sp>
      <p:sp>
        <p:nvSpPr>
          <p:cNvPr id="11" name="Shape 8"/>
          <p:cNvSpPr/>
          <p:nvPr/>
        </p:nvSpPr>
        <p:spPr>
          <a:xfrm>
            <a:off x="4407408" y="23957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25383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306324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Multimodal fusion wins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07408" y="336499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B9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IMU, GPS and physiological signals outperforms any single modality — the basis for AthleteShield's shared feature store.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7772400" y="2194560"/>
            <a:ext cx="3346704" cy="1783080"/>
          </a:xfrm>
          <a:prstGeom prst="roundRect">
            <a:avLst>
              <a:gd name="adj" fmla="val 4103"/>
            </a:avLst>
          </a:prstGeom>
          <a:solidFill>
            <a:srgbClr val="1C333A"/>
          </a:solidFill>
          <a:ln/>
        </p:spPr>
      </p:sp>
      <p:sp>
        <p:nvSpPr>
          <p:cNvPr id="16" name="Shape 12"/>
          <p:cNvSpPr/>
          <p:nvPr/>
        </p:nvSpPr>
        <p:spPr>
          <a:xfrm>
            <a:off x="7973568" y="23957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214" y="253837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73568" y="306324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Explainability is required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973568" y="3364992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B9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SHAP-paired models let clinicians justify a rest or load-adjustment decision to players and management.</a:t>
            </a:r>
            <a:endParaRPr lang="en-US" sz="970" dirty="0"/>
          </a:p>
        </p:txBody>
      </p:sp>
      <p:sp>
        <p:nvSpPr>
          <p:cNvPr id="20" name="Shape 15"/>
          <p:cNvSpPr/>
          <p:nvPr/>
        </p:nvSpPr>
        <p:spPr>
          <a:xfrm>
            <a:off x="2423160" y="4288536"/>
            <a:ext cx="3346704" cy="1783080"/>
          </a:xfrm>
          <a:prstGeom prst="roundRect">
            <a:avLst>
              <a:gd name="adj" fmla="val 4103"/>
            </a:avLst>
          </a:prstGeom>
          <a:solidFill>
            <a:srgbClr val="1C333A"/>
          </a:solidFill>
          <a:ln/>
        </p:spPr>
      </p:sp>
      <p:sp>
        <p:nvSpPr>
          <p:cNvPr id="21" name="Shape 16"/>
          <p:cNvSpPr/>
          <p:nvPr/>
        </p:nvSpPr>
        <p:spPr>
          <a:xfrm>
            <a:off x="2624328" y="448970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974" y="4632350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24328" y="515721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Imbalance shapes evaluation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624328" y="5458968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B9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 are rare vs. exposure — literature favours recall / F1 / AUC with SMOTE or class weighting over raw accuracy.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5989320" y="4288536"/>
            <a:ext cx="3346704" cy="1783080"/>
          </a:xfrm>
          <a:prstGeom prst="roundRect">
            <a:avLst>
              <a:gd name="adj" fmla="val 4103"/>
            </a:avLst>
          </a:prstGeom>
          <a:solidFill>
            <a:srgbClr val="1C333A"/>
          </a:solidFill>
          <a:ln/>
        </p:spPr>
      </p:sp>
      <p:sp>
        <p:nvSpPr>
          <p:cNvPr id="26" name="Shape 20"/>
          <p:cNvSpPr/>
          <p:nvPr/>
        </p:nvSpPr>
        <p:spPr>
          <a:xfrm>
            <a:off x="6190488" y="448970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4" descr="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134" y="4632350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90488" y="5157216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challenges remain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190488" y="5458968"/>
            <a:ext cx="29443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B9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Cross-vendor calibration, generalisability across sports, and biometric-data privacy stay unresolved — motivating an edge-first design.</a:t>
            </a:r>
            <a:endParaRPr lang="en-US" sz="970" dirty="0"/>
          </a:p>
        </p:txBody>
      </p:sp>
      <p:sp>
        <p:nvSpPr>
          <p:cNvPr id="30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Representative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0956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55480" y="16916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AthleteShield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881360" cy="786384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75688"/>
            <a:ext cx="5166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Injuries in Football from GPS Wearables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80760" y="2075688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09560" y="207568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55480" y="2075688"/>
            <a:ext cx="1874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Catapult GPS data — 90% acc., 92% precision; direct precedent for the GPS→XGBoost pipeline.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40080" y="2862072"/>
            <a:ext cx="1088136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62072"/>
            <a:ext cx="5166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+ interpretable ML for lower-extremity injury risk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2862072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09560" y="2862072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Bioeng. &amp; Biotech.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55480" y="2862072"/>
            <a:ext cx="1874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biomechanical + physiological model with SHAP — informs the explainability layer.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648456"/>
            <a:ext cx="10881360" cy="786384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48456"/>
            <a:ext cx="5166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approaches to injury risk prediction: a scoping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3648456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09560" y="3648456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J Sports Medicine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55480" y="3648456"/>
            <a:ext cx="1874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GPS/wellness/RPE studies — tree ensembles consistently top performers.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5166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of football injuries using GPS-based ACWR features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0760" y="4434840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09560" y="4434840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Sports &amp; Active Living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55480" y="4434840"/>
            <a:ext cx="1874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7-day:28-day acute:chronic workload ratio — matches AthleteShield's ACWR features.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40080" y="5221224"/>
            <a:ext cx="10881360" cy="786384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21224"/>
            <a:ext cx="5166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Time-to-injury forecasting with tree-ensemble baselines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5221224"/>
            <a:ext cx="1645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09560" y="5221224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preprint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55480" y="5221224"/>
            <a:ext cx="1874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XGBoost/RF/logistic regression via F1, recall, AUC — mirrors the evaluation strategy.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survey covers 12 sources (2022–2026) spanning reviews, benchmark studies, and preprints — see report Section 2 / 10.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Sensing at the edge, decisions with the humans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277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Sensing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GPS/GNSS · HRV strap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2267712" y="2286000"/>
            <a:ext cx="223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90826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84602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022" y="20866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3978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Edge Gateway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82266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BLE/ANT+ aggregation, clock sync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4118458" y="2286000"/>
            <a:ext cx="223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41571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35347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0866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14723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33011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· sliding windows 30s–28d</a:t>
            </a:r>
            <a:endParaRPr lang="en-US" sz="880" dirty="0"/>
          </a:p>
        </p:txBody>
      </p:sp>
      <p:sp>
        <p:nvSpPr>
          <p:cNvPr id="21" name="Text 16"/>
          <p:cNvSpPr/>
          <p:nvPr/>
        </p:nvSpPr>
        <p:spPr>
          <a:xfrm>
            <a:off x="5969203" y="2286000"/>
            <a:ext cx="223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192317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86093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208666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5469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Store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83757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ACWR · PlayerLoad · HRV-RMSSD</a:t>
            </a:r>
            <a:endParaRPr lang="en-US" sz="880" dirty="0"/>
          </a:p>
        </p:txBody>
      </p:sp>
      <p:sp>
        <p:nvSpPr>
          <p:cNvPr id="27" name="Text 21"/>
          <p:cNvSpPr/>
          <p:nvPr/>
        </p:nvSpPr>
        <p:spPr>
          <a:xfrm>
            <a:off x="7819949" y="2286000"/>
            <a:ext cx="223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043062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536838" y="1920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4" descr="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259" y="208666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16214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Layer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134502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+ optional LSTM/CNN</a:t>
            </a:r>
            <a:endParaRPr lang="en-US" sz="880" dirty="0"/>
          </a:p>
        </p:txBody>
      </p:sp>
      <p:sp>
        <p:nvSpPr>
          <p:cNvPr id="33" name="Text 26"/>
          <p:cNvSpPr/>
          <p:nvPr/>
        </p:nvSpPr>
        <p:spPr>
          <a:xfrm>
            <a:off x="9670694" y="2286000"/>
            <a:ext cx="223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893808" y="1691640"/>
            <a:ext cx="1627632" cy="1965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1B1B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387584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5" descr="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005" y="208666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66960" y="26517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9985248" y="30175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dashboard, alerts</a:t>
            </a:r>
            <a:endParaRPr lang="en-US" sz="880" dirty="0"/>
          </a:p>
        </p:txBody>
      </p:sp>
      <p:sp>
        <p:nvSpPr>
          <p:cNvPr id="39" name="Shape 31"/>
          <p:cNvSpPr/>
          <p:nvPr/>
        </p:nvSpPr>
        <p:spPr>
          <a:xfrm>
            <a:off x="640080" y="3977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3262B"/>
          </a:solidFill>
          <a:ln/>
        </p:spPr>
      </p:sp>
      <p:sp>
        <p:nvSpPr>
          <p:cNvPr id="40" name="Text 32"/>
          <p:cNvSpPr/>
          <p:nvPr/>
        </p:nvSpPr>
        <p:spPr>
          <a:xfrm>
            <a:off x="914400" y="3977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injuries and near-misses are logged and fed back into training, with nightly batch retraining as new outcome data accrues.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640080" y="4983480"/>
            <a:ext cx="350215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68680" y="498348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— raw biometric data stays on-premises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4325112" y="4983480"/>
            <a:ext cx="350215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553712" y="498348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aware — SMOTE / weighted loss, recall &amp; F1 focus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8010144" y="4983480"/>
            <a:ext cx="350215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E2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238744" y="4983480"/>
            <a:ext cx="3044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flags risk, never withdraws a player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single dataset does it all — so we combine five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Injury-outcome, wearable-load, and general-purpose IMU/HAR datasets are combined and adapted; synthetic data supports pipeline stress-testing before real team deployment.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630936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008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40280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Kaggle Football Player Injury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2240280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labelled injury outcomes for supervised training &amp; evaluation.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0058400" y="24094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0" y="240944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INJURY-LABELLED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10881360" cy="630936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25983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999232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Academic GPS / Wearable Cohort Studies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999232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load-accumulation patterns; validated ACWR feature definitions.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058400" y="316839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12680" y="316839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INJURY-LABELLED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10881360" cy="630936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0187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758184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PAMAP2 Physical Activity Monitoring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758184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pretraining / transfer-learning source for gait &amp; impact features.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0058400" y="39273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12680" y="392734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— PRETRAIN ONLY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640080" y="4517136"/>
            <a:ext cx="10881360" cy="630936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7777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517136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MotionSense Dataset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4517136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lightweight on-device signal processing before deployment.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058400" y="46863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46863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— PRETRAIN ONLY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40080" y="5276088"/>
            <a:ext cx="10881360" cy="630936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536692"/>
            <a:ext cx="109728" cy="109728"/>
          </a:xfrm>
          <a:prstGeom prst="ellipse">
            <a:avLst/>
          </a:prstGeom>
          <a:solidFill>
            <a:srgbClr val="5B6E70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276088"/>
            <a:ext cx="3566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Synthetic Training-Load Data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0" y="5276088"/>
            <a:ext cx="51206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stress-testing, class-imbalance work, privacy-safe demos.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10058400" y="54452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B6E70"/>
          </a:solidFill>
          <a:ln/>
        </p:spPr>
      </p:sp>
      <p:sp>
        <p:nvSpPr>
          <p:cNvPr id="34" name="Text 32"/>
          <p:cNvSpPr/>
          <p:nvPr/>
        </p:nvSpPr>
        <p:spPr>
          <a:xfrm>
            <a:off x="10012680" y="544525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datasets carry no injury labels — they validate signal processing and pretrain a movement-quality encoder, later fine-tuned on injury-labelled data.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Measured carefully, deployed cautiously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it's evaluated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F1 on the injury-positive class, plus ROC-AUC and PR-AUC — a missed risk costs far more than a false alarm.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977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CV with SMOTE/ADASYN or class weighting; chronologically held-out test split to avoid season leakage.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40080" y="367588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958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/ isotonic calibration so a "70% risk" score matches real-world empirical rates.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40080" y="442569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793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validation: risk flags logged silently for a season before influencing any decision.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challenges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2176272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2996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scarcity — injuries are single-digit % of exposures, raising overfitting risk.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26080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779776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heterogeneity — Catapult, STATSports, Polar, Whoop differ in sampling &amp; calibration.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63640" y="3675888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52958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Confounded causality — elevated load correlates with, but doesn't cause, injury.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263640" y="4425696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7939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D7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governance — biometric data demands edge processing, consent, compliance.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035040" y="1737360"/>
            <a:ext cx="0" cy="4206240"/>
          </a:xfrm>
          <a:prstGeom prst="line">
            <a:avLst/>
          </a:prstGeom>
          <a:noFill/>
          <a:ln w="12700">
            <a:solidFill>
              <a:srgbClr val="3A4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13262B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63624" y="21945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819" y="23847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Federated learning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models across clubs without centralising raw athlete data.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8144" y="187452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13262B">
              <a:alpha val="8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361688" y="21945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883" y="23847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Digital-twin athletes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66744" y="365760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simulation for individualised tissue-loading thresholds.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6208" y="187452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13262B">
              <a:alpha val="8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159752" y="21945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w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47" y="23847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Richer sensor fusion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64808" y="365760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EMG, force-plate and flexible-electronics strain sensors as they mature.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34272" y="1874520"/>
            <a:ext cx="2578608" cy="2834640"/>
          </a:xfrm>
          <a:prstGeom prst="roundRect">
            <a:avLst>
              <a:gd name="adj" fmla="val 3546"/>
            </a:avLst>
          </a:prstGeom>
          <a:solidFill>
            <a:srgbClr val="13262B">
              <a:alpha val="85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9957816" y="21945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011" y="23847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10896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Closed-loop trials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62872" y="365760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load-adjustment trials to prove flags reduce injury incidence.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A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edge-first, and explainable by design — from project brief to prospective validation.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2026-08-17T09:24:37Z</dcterms:created>
  <dcterms:modified xsi:type="dcterms:W3CDTF">2026-08-17T09:24:37Z</dcterms:modified>
</cp:coreProperties>
</file>